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05"/>
    <p:restoredTop sz="85000"/>
  </p:normalViewPr>
  <p:slideViewPr>
    <p:cSldViewPr snapToGrid="0" showGuides="1">
      <p:cViewPr varScale="1">
        <p:scale>
          <a:sx n="98" d="100"/>
          <a:sy n="98" d="100"/>
        </p:scale>
        <p:origin x="200" y="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66B4F-C975-2540-B1B2-398F9AC0EA41}" type="datetimeFigureOut">
              <a:rPr kumimoji="1" lang="ko-Kore-KR" altLang="en-US" smtClean="0"/>
              <a:t>2026. 3. 23.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0858D-4DCD-F04D-A8AE-D85253130E2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0797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kumimoji="1" lang="en-US" altLang="ko-KR" sz="1200" dirty="0">
                <a:solidFill>
                  <a:schemeClr val="bg1">
                    <a:lumMod val="50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(Wang et al.(PNAS 2026)</a:t>
            </a:r>
            <a:r>
              <a:rPr kumimoji="1" lang="ko-KR" altLang="en-US" sz="1200" dirty="0">
                <a:solidFill>
                  <a:schemeClr val="bg1">
                    <a:lumMod val="50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에서 </a:t>
            </a:r>
            <a:endParaRPr kumimoji="1" lang="en-US" altLang="ko-KR" sz="1200" dirty="0">
              <a:solidFill>
                <a:schemeClr val="bg1">
                  <a:lumMod val="50000"/>
                </a:schemeClr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en-US" altLang="ko-KR" sz="1200" dirty="0">
                <a:solidFill>
                  <a:schemeClr val="bg1">
                    <a:lumMod val="50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45</a:t>
            </a:r>
            <a:r>
              <a:rPr kumimoji="1" lang="ko-KR" altLang="en-US" sz="1200" dirty="0">
                <a:solidFill>
                  <a:schemeClr val="bg1">
                    <a:lumMod val="50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편의 논문</a:t>
            </a:r>
            <a:r>
              <a:rPr kumimoji="1" lang="en-US" altLang="ko-KR" sz="1200" dirty="0">
                <a:solidFill>
                  <a:schemeClr val="bg1">
                    <a:lumMod val="50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/111</a:t>
            </a:r>
            <a:r>
              <a:rPr kumimoji="1" lang="ko-KR" altLang="en-US" sz="1200" dirty="0">
                <a:solidFill>
                  <a:schemeClr val="bg1">
                    <a:lumMod val="50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개의 데이터포인트</a:t>
            </a:r>
            <a:endParaRPr kumimoji="1" lang="en-US" altLang="ko-KR" sz="1200" dirty="0">
              <a:solidFill>
                <a:schemeClr val="bg1">
                  <a:lumMod val="50000"/>
                </a:schemeClr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ko-KR" altLang="en-US" sz="1200" dirty="0">
                <a:solidFill>
                  <a:schemeClr val="bg1">
                    <a:lumMod val="50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구축한 것 등 현행 연구를 참고한 현실적인 규모 </a:t>
            </a:r>
            <a:endParaRPr kumimoji="1" lang="en-US" altLang="ko-KR" sz="1200" dirty="0">
              <a:solidFill>
                <a:schemeClr val="bg1">
                  <a:lumMod val="50000"/>
                </a:schemeClr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58D-4DCD-F04D-A8AE-D85253130E21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13372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33713-8C55-0D7A-6E29-316F067A2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6947F1-75AF-4BDC-605A-50EF1085C2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7486B1-B083-2C5F-E89D-77B2212C1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22BE-462E-2B47-B1F5-2B19F01CA825}" type="datetimeFigureOut">
              <a:rPr kumimoji="1" lang="ko-Kore-KR" altLang="en-US" smtClean="0"/>
              <a:t>2026. 3. 23.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85D7CB-2061-63FE-7079-EBC2AA936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6ED119-B4D4-065B-568D-A1335D66E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AAE9-FB5E-854A-A05C-587F57FC1C8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8458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4B71F-B311-81EE-7A2E-89F075909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639710-2A34-FEFB-E444-1F6AD29DD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959B7D-3E32-6B0C-5CA9-FBC382FBE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22BE-462E-2B47-B1F5-2B19F01CA825}" type="datetimeFigureOut">
              <a:rPr kumimoji="1" lang="ko-Kore-KR" altLang="en-US" smtClean="0"/>
              <a:t>2026. 3. 23.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ECDE87-3062-5BB6-A756-833746194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90E70A-B242-EDF9-4F74-93BDC7D4A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AAE9-FB5E-854A-A05C-587F57FC1C8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34870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5991AC-2FEA-2FF6-0803-760CCCD1A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85A87C-35A3-C592-7E7D-C753AFDF4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A6DEE6-C854-9E88-B620-652C26A4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22BE-462E-2B47-B1F5-2B19F01CA825}" type="datetimeFigureOut">
              <a:rPr kumimoji="1" lang="ko-Kore-KR" altLang="en-US" smtClean="0"/>
              <a:t>2026. 3. 23.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507535-1D71-0E79-5890-9D09927A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4D31BE-3F75-0D22-BA47-BD04DCB3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AAE9-FB5E-854A-A05C-587F57FC1C8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2448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339251-44B4-888B-1A0B-18420B481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9E4AAD-BE98-64B4-1D52-905B3BE8C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D4C433-BC1F-20A7-F7BA-818B8CFD1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31C116-C323-6E28-53A5-E8C9B61E2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22BE-462E-2B47-B1F5-2B19F01CA825}" type="datetimeFigureOut">
              <a:rPr kumimoji="1" lang="ko-Kore-KR" altLang="en-US" smtClean="0"/>
              <a:t>2026. 3. 23.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BDDE88-882A-8A6A-F1BF-2CD7253D8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3EB458-C79F-FD51-2F92-9488F8316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AAE9-FB5E-854A-A05C-587F57FC1C8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6700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BC541D-D923-CA00-25BB-DD56BD2F2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AC09D3-ED54-3CFB-000B-C7D234043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0E3FDA-4C62-4580-75E9-05516652B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86F7A9-6BAE-3A01-4026-050AC75B58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6209A55-5BFE-BAEC-01B2-4C83F36F6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73FED1-6A86-9D57-B9BA-AE0A914BE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22BE-462E-2B47-B1F5-2B19F01CA825}" type="datetimeFigureOut">
              <a:rPr kumimoji="1" lang="ko-Kore-KR" altLang="en-US" smtClean="0"/>
              <a:t>2026. 3. 23.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55EEB7-BC79-FFBB-2986-5A8565A0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686BC3-5809-5FEC-55E0-1D1A5990B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AAE9-FB5E-854A-A05C-587F57FC1C8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64821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38748-81B6-7DC8-D231-47E35DA1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11C473-D0DA-041D-CCD4-8D7AEB275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22BE-462E-2B47-B1F5-2B19F01CA825}" type="datetimeFigureOut">
              <a:rPr kumimoji="1" lang="ko-Kore-KR" altLang="en-US" smtClean="0"/>
              <a:t>2026. 3. 23.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24D517-866C-37B4-51F1-F9747C76F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BCC88B-EBB1-CCDA-7A2B-E00450FA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AAE9-FB5E-854A-A05C-587F57FC1C8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89641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C2DCD02-7C75-EB8A-1C99-A2547BAB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22BE-462E-2B47-B1F5-2B19F01CA825}" type="datetimeFigureOut">
              <a:rPr kumimoji="1" lang="ko-Kore-KR" altLang="en-US" smtClean="0"/>
              <a:t>2026. 3. 23.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9F3B2D-6235-A5DF-9AA1-BFC130906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F3571E-DE71-B94C-DDF2-4A6C3C991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AAE9-FB5E-854A-A05C-587F57FC1C8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17732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8299EB-E0AF-B565-D5FD-B0619F099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8414BC-DD93-96FB-C671-209F6D283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2F40BF-655B-C280-2900-13D42B89E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AE0D44-904E-74A3-433C-31C9D5FE0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22BE-462E-2B47-B1F5-2B19F01CA825}" type="datetimeFigureOut">
              <a:rPr kumimoji="1" lang="ko-Kore-KR" altLang="en-US" smtClean="0"/>
              <a:t>2026. 3. 23.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5F3DF3-9669-EF6F-A965-94249E72D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7B42F7-F7E9-DAB7-B98A-BBE5E0178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AAE9-FB5E-854A-A05C-587F57FC1C8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79456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D83813-1056-CE31-6F0D-600B446D2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3887431-C414-F5B4-4770-0A0094A8B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F19696-E2D5-A794-08F7-12152F9A0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488FB1-A60F-758C-70A8-D2F4333B9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22BE-462E-2B47-B1F5-2B19F01CA825}" type="datetimeFigureOut">
              <a:rPr kumimoji="1" lang="ko-Kore-KR" altLang="en-US" smtClean="0"/>
              <a:t>2026. 3. 23.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401D55-02C4-45CD-8744-DF46C77A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AB3061-E2E9-560D-59F4-DBF986FE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AAE9-FB5E-854A-A05C-587F57FC1C8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2439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21516-F9AF-DD94-B799-DAC38C87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AE28E7-1E0B-4EED-5529-834CDC74F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1A2FB3-8FB1-5F43-1C1B-3273D8E88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22BE-462E-2B47-B1F5-2B19F01CA825}" type="datetimeFigureOut">
              <a:rPr kumimoji="1" lang="ko-Kore-KR" altLang="en-US" smtClean="0"/>
              <a:t>2026. 3. 23.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784A11-535F-2BE0-F117-39077BF75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434DB0-791A-0C54-191B-0AF3CD4F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AAE9-FB5E-854A-A05C-587F57FC1C8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77401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BEDBD5D-F086-F275-4F46-C513A0398A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144298-9C63-4C98-DF27-72A05E7E9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8575D2-8907-7FE8-5A5E-0EA0E0F0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22BE-462E-2B47-B1F5-2B19F01CA825}" type="datetimeFigureOut">
              <a:rPr kumimoji="1" lang="ko-Kore-KR" altLang="en-US" smtClean="0"/>
              <a:t>2026. 3. 23.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61FE49-4A6F-86AC-35AC-F3A43D580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9CE312-7519-91A5-D270-C065D4C36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AAE9-FB5E-854A-A05C-587F57FC1C8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7827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510840B-B1B7-206B-92A5-9FECAAE8F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531E88-E1C5-2FEB-36AF-3E64E40E4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134DE8-4E5D-7B47-7435-CD74E144B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422BE-462E-2B47-B1F5-2B19F01CA825}" type="datetimeFigureOut">
              <a:rPr kumimoji="1" lang="ko-Kore-KR" altLang="en-US" smtClean="0"/>
              <a:t>2026. 3. 23.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544AF5-F686-8F09-201B-F0A849D220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C0960F-933C-D024-EFB7-B0D884DBC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5AAE9-FB5E-854A-A05C-587F57FC1C8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6336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79410A-BEED-56D4-1DB4-51B5D1CB9D87}"/>
              </a:ext>
            </a:extLst>
          </p:cNvPr>
          <p:cNvSpPr txBox="1"/>
          <p:nvPr/>
        </p:nvSpPr>
        <p:spPr>
          <a:xfrm>
            <a:off x="1" y="17401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Multimodal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kumimoji="1" lang="en-US" altLang="ko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ext-Generation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Alloy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endParaRPr kumimoji="1" lang="ko-Kore-KR" altLang="en-US" sz="2800" b="1" dirty="0">
              <a:solidFill>
                <a:srgbClr val="001D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31541C5-B9A2-1FBB-CFC0-D5FF5707D7E3}"/>
              </a:ext>
            </a:extLst>
          </p:cNvPr>
          <p:cNvGrpSpPr/>
          <p:nvPr/>
        </p:nvGrpSpPr>
        <p:grpSpPr>
          <a:xfrm>
            <a:off x="775131" y="1039184"/>
            <a:ext cx="3816888" cy="369332"/>
            <a:chOff x="775131" y="1204556"/>
            <a:chExt cx="3816888" cy="3693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D0E447-4703-606F-8DFD-FAF8AD2106CC}"/>
                </a:ext>
              </a:extLst>
            </p:cNvPr>
            <p:cNvSpPr txBox="1"/>
            <p:nvPr/>
          </p:nvSpPr>
          <p:spPr>
            <a:xfrm>
              <a:off x="840446" y="1204556"/>
              <a:ext cx="37515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데이터 확보 프로세스</a:t>
              </a:r>
              <a:endParaRPr kumimoji="1" lang="ko-Kore-KR" alt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  <p:cxnSp>
          <p:nvCxnSpPr>
            <p:cNvPr id="5" name="직선 연결선[R] 4">
              <a:extLst>
                <a:ext uri="{FF2B5EF4-FFF2-40B4-BE49-F238E27FC236}">
                  <a16:creationId xmlns:a16="http://schemas.microsoft.com/office/drawing/2014/main" id="{F522C054-6447-B213-7492-18A23361A98B}"/>
                </a:ext>
              </a:extLst>
            </p:cNvPr>
            <p:cNvCxnSpPr/>
            <p:nvPr/>
          </p:nvCxnSpPr>
          <p:spPr>
            <a:xfrm>
              <a:off x="775131" y="1241111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BC3ECCA-5BA0-EF40-8C32-AF9B47317809}"/>
              </a:ext>
            </a:extLst>
          </p:cNvPr>
          <p:cNvSpPr txBox="1"/>
          <p:nvPr/>
        </p:nvSpPr>
        <p:spPr>
          <a:xfrm>
            <a:off x="716267" y="1833120"/>
            <a:ext cx="1259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00206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①</a:t>
            </a:r>
            <a:r>
              <a:rPr kumimoji="1" lang="ko-KR" altLang="en-US" sz="1600" dirty="0">
                <a:solidFill>
                  <a:srgbClr val="00206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논문 </a:t>
            </a:r>
            <a:r>
              <a:rPr kumimoji="1" lang="en-US" altLang="ko-KR" sz="1600" dirty="0">
                <a:solidFill>
                  <a:srgbClr val="00206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PDF</a:t>
            </a:r>
            <a:endParaRPr kumimoji="1" lang="ko-Kore-KR" altLang="en-US" sz="1600" dirty="0">
              <a:solidFill>
                <a:srgbClr val="00206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FB831C2-74A7-8EFC-452D-F2077F90CFA3}"/>
              </a:ext>
            </a:extLst>
          </p:cNvPr>
          <p:cNvCxnSpPr/>
          <p:nvPr/>
        </p:nvCxnSpPr>
        <p:spPr>
          <a:xfrm>
            <a:off x="2434009" y="2020505"/>
            <a:ext cx="66604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FF43702-CD18-FE7B-7F0A-DBE0EB43D334}"/>
              </a:ext>
            </a:extLst>
          </p:cNvPr>
          <p:cNvSpPr txBox="1"/>
          <p:nvPr/>
        </p:nvSpPr>
        <p:spPr>
          <a:xfrm>
            <a:off x="3465518" y="2364315"/>
            <a:ext cx="2411311" cy="1746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합금 조성 정보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3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제조 공정 및 처리 조건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3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상 구조 및 미세조직 정보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3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시험 조건 정보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3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최종 물성 결과 등 파싱 및 추출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30000"/>
              </a:lnSpc>
            </a:pPr>
            <a:r>
              <a:rPr kumimoji="1" lang="en-US" altLang="ko-KR" sz="11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(</a:t>
            </a:r>
            <a:r>
              <a:rPr kumimoji="1" lang="ko-KR" altLang="en-US" sz="11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논문에서 최종적으로 보고한 성능 수치</a:t>
            </a:r>
            <a:r>
              <a:rPr kumimoji="1" lang="en-US" altLang="ko-KR" sz="11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)</a:t>
            </a:r>
            <a:endParaRPr kumimoji="1" lang="ko-Kore-KR" altLang="en-US" sz="11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A4ED5B-4399-1349-FBAA-D849199E78AF}"/>
              </a:ext>
            </a:extLst>
          </p:cNvPr>
          <p:cNvSpPr txBox="1"/>
          <p:nvPr/>
        </p:nvSpPr>
        <p:spPr>
          <a:xfrm>
            <a:off x="3582521" y="1833120"/>
            <a:ext cx="1902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00206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②</a:t>
            </a:r>
            <a:r>
              <a:rPr kumimoji="1" lang="ko-KR" altLang="en-US" sz="1600" dirty="0">
                <a:solidFill>
                  <a:srgbClr val="00206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kumimoji="1" lang="en-US" altLang="ko-KR" sz="1600" dirty="0">
                <a:solidFill>
                  <a:srgbClr val="00206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Multimodal</a:t>
            </a:r>
            <a:r>
              <a:rPr kumimoji="1" lang="ko-KR" altLang="en-US" sz="1600" dirty="0">
                <a:solidFill>
                  <a:srgbClr val="00206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kumimoji="1" lang="en-US" altLang="ko-KR" sz="1600" dirty="0">
                <a:solidFill>
                  <a:srgbClr val="00206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LLM</a:t>
            </a:r>
            <a:r>
              <a:rPr kumimoji="1" lang="ko-KR" altLang="en-US" sz="1600" dirty="0">
                <a:solidFill>
                  <a:srgbClr val="00206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endParaRPr kumimoji="1" lang="ko-Kore-KR" altLang="en-US" sz="1600" dirty="0">
              <a:solidFill>
                <a:srgbClr val="00206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EE0557-3C76-ED9A-F744-48AD7E758F4D}"/>
              </a:ext>
            </a:extLst>
          </p:cNvPr>
          <p:cNvSpPr txBox="1"/>
          <p:nvPr/>
        </p:nvSpPr>
        <p:spPr>
          <a:xfrm>
            <a:off x="6685836" y="1851228"/>
            <a:ext cx="1774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00206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③</a:t>
            </a:r>
            <a:r>
              <a:rPr kumimoji="1" lang="ko-KR" altLang="en-US" sz="1600" dirty="0">
                <a:solidFill>
                  <a:srgbClr val="00206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표기 통일 </a:t>
            </a:r>
            <a:r>
              <a:rPr kumimoji="1" lang="en-US" altLang="ko-KR" sz="1600" dirty="0">
                <a:solidFill>
                  <a:srgbClr val="00206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+</a:t>
            </a:r>
            <a:r>
              <a:rPr kumimoji="1" lang="ko-KR" altLang="en-US" sz="1600" dirty="0">
                <a:solidFill>
                  <a:srgbClr val="00206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계산</a:t>
            </a:r>
            <a:endParaRPr kumimoji="1" lang="ko-Kore-KR" altLang="en-US" sz="1600" dirty="0">
              <a:solidFill>
                <a:srgbClr val="00206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9567BD-0C4C-C4CC-13FC-69F5BFA297E3}"/>
              </a:ext>
            </a:extLst>
          </p:cNvPr>
          <p:cNvSpPr txBox="1"/>
          <p:nvPr/>
        </p:nvSpPr>
        <p:spPr>
          <a:xfrm>
            <a:off x="9694890" y="1833120"/>
            <a:ext cx="1774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00206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④</a:t>
            </a:r>
            <a:r>
              <a:rPr kumimoji="1" lang="ko-KR" altLang="en-US" sz="1600" dirty="0">
                <a:solidFill>
                  <a:srgbClr val="00206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정형 데이터 </a:t>
            </a:r>
            <a:r>
              <a:rPr kumimoji="1" lang="en-US" altLang="ko-KR" sz="1600" dirty="0">
                <a:solidFill>
                  <a:srgbClr val="00206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DB</a:t>
            </a:r>
            <a:endParaRPr kumimoji="1" lang="ko-Kore-KR" altLang="en-US" sz="1600" dirty="0">
              <a:solidFill>
                <a:srgbClr val="00206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48B55E-4D42-3F50-FB01-9DD39CC70B44}"/>
              </a:ext>
            </a:extLst>
          </p:cNvPr>
          <p:cNvSpPr txBox="1"/>
          <p:nvPr/>
        </p:nvSpPr>
        <p:spPr>
          <a:xfrm>
            <a:off x="716267" y="2229763"/>
            <a:ext cx="2893188" cy="2026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▪︎ 목표 규모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BCC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계열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HEA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논문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150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편에서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400-600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개 데이터 포인트 확보 목표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▪︎ 수집 우선순위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Nature, PNAS,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ore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cta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Mater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등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저명 저널 중심으로 수집 및 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공개 재료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DB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활용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1D8E23-2741-5AC7-442A-E127B3FC6998}"/>
              </a:ext>
            </a:extLst>
          </p:cNvPr>
          <p:cNvSpPr txBox="1"/>
          <p:nvPr/>
        </p:nvSpPr>
        <p:spPr>
          <a:xfrm>
            <a:off x="6473488" y="2382414"/>
            <a:ext cx="2715666" cy="146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1)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ore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LLM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이 논문 정보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(</a:t>
            </a:r>
            <a:r>
              <a:rPr kumimoji="1" lang="en-US" altLang="ko-KR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json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)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추출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2)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원소명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인식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후조성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숫자 매칭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3)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단위 통일과 조성 검증 수행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4)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표준 조성 표기 생성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5)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피처 계산 </a:t>
            </a:r>
            <a:endParaRPr kumimoji="1" lang="ko-Kore-KR" altLang="en-US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571E6E2-6A8B-F5AB-2A73-14CD4F39BCE5}"/>
              </a:ext>
            </a:extLst>
          </p:cNvPr>
          <p:cNvCxnSpPr/>
          <p:nvPr/>
        </p:nvCxnSpPr>
        <p:spPr>
          <a:xfrm>
            <a:off x="5741362" y="2020505"/>
            <a:ext cx="66604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D274B27-D6E4-B8D9-EC9B-1D43DE221FE5}"/>
              </a:ext>
            </a:extLst>
          </p:cNvPr>
          <p:cNvCxnSpPr/>
          <p:nvPr/>
        </p:nvCxnSpPr>
        <p:spPr>
          <a:xfrm>
            <a:off x="8772429" y="2025943"/>
            <a:ext cx="66604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4EF20F98-5BA1-F1EB-C55B-7C5B6CFE978F}"/>
              </a:ext>
            </a:extLst>
          </p:cNvPr>
          <p:cNvSpPr/>
          <p:nvPr/>
        </p:nvSpPr>
        <p:spPr>
          <a:xfrm>
            <a:off x="9605693" y="2382414"/>
            <a:ext cx="936000" cy="21600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100" dirty="0">
                <a:solidFill>
                  <a:sysClr val="windowText" lastClr="000000"/>
                </a:solidFill>
              </a:rPr>
              <a:t>A </a:t>
            </a:r>
            <a:r>
              <a:rPr kumimoji="1" lang="ko-KR" altLang="en-US" sz="1100" dirty="0">
                <a:solidFill>
                  <a:sysClr val="windowText" lastClr="000000"/>
                </a:solidFill>
              </a:rPr>
              <a:t>출처 정보</a:t>
            </a:r>
            <a:endParaRPr kumimoji="1" lang="ko-Kore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A78F30C0-BE9D-27F8-D741-BD9E9FE07762}"/>
              </a:ext>
            </a:extLst>
          </p:cNvPr>
          <p:cNvSpPr/>
          <p:nvPr/>
        </p:nvSpPr>
        <p:spPr>
          <a:xfrm>
            <a:off x="10589603" y="2389757"/>
            <a:ext cx="936000" cy="21600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100" dirty="0">
                <a:solidFill>
                  <a:sysClr val="windowText" lastClr="000000"/>
                </a:solidFill>
              </a:rPr>
              <a:t>B</a:t>
            </a:r>
            <a:r>
              <a:rPr kumimoji="1" lang="ko-KR" altLang="en-US" sz="1100" dirty="0">
                <a:solidFill>
                  <a:sysClr val="windowText" lastClr="000000"/>
                </a:solidFill>
              </a:rPr>
              <a:t> 조성정보</a:t>
            </a:r>
            <a:endParaRPr kumimoji="1" lang="ko-Kore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79449147-1BAB-D0B6-0EA0-C0D33D1B0CAD}"/>
              </a:ext>
            </a:extLst>
          </p:cNvPr>
          <p:cNvSpPr/>
          <p:nvPr/>
        </p:nvSpPr>
        <p:spPr>
          <a:xfrm>
            <a:off x="9605693" y="2652766"/>
            <a:ext cx="936000" cy="21600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100" dirty="0">
                <a:solidFill>
                  <a:sysClr val="windowText" lastClr="000000"/>
                </a:solidFill>
              </a:rPr>
              <a:t>C </a:t>
            </a:r>
            <a:r>
              <a:rPr kumimoji="1" lang="ko-KR" altLang="en-US" sz="1100" dirty="0">
                <a:solidFill>
                  <a:sysClr val="windowText" lastClr="000000"/>
                </a:solidFill>
              </a:rPr>
              <a:t>피처 </a:t>
            </a:r>
            <a:endParaRPr kumimoji="1" lang="ko-Kore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5D9EC0D2-6B82-1D87-68A5-53E663571C4E}"/>
              </a:ext>
            </a:extLst>
          </p:cNvPr>
          <p:cNvSpPr/>
          <p:nvPr/>
        </p:nvSpPr>
        <p:spPr>
          <a:xfrm>
            <a:off x="10589603" y="2656354"/>
            <a:ext cx="936000" cy="21600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ysClr val="windowText" lastClr="000000"/>
                </a:solidFill>
              </a:rPr>
              <a:t>D</a:t>
            </a:r>
            <a:r>
              <a:rPr kumimoji="1" lang="ko-KR" altLang="en-US" sz="1100" dirty="0">
                <a:solidFill>
                  <a:sysClr val="windowText" lastClr="000000"/>
                </a:solidFill>
              </a:rPr>
              <a:t> 공정조건 </a:t>
            </a:r>
            <a:endParaRPr kumimoji="1" lang="ko-Kore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9997D794-5FFB-3A2C-3DAC-7B9EEC53488E}"/>
              </a:ext>
            </a:extLst>
          </p:cNvPr>
          <p:cNvSpPr/>
          <p:nvPr/>
        </p:nvSpPr>
        <p:spPr>
          <a:xfrm>
            <a:off x="9605693" y="2923117"/>
            <a:ext cx="936000" cy="21600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ysClr val="windowText" lastClr="000000"/>
                </a:solidFill>
              </a:rPr>
              <a:t>E </a:t>
            </a:r>
            <a:r>
              <a:rPr kumimoji="1" lang="ko-KR" altLang="en-US" sz="1100" dirty="0">
                <a:solidFill>
                  <a:sysClr val="windowText" lastClr="000000"/>
                </a:solidFill>
              </a:rPr>
              <a:t>최종 물성 </a:t>
            </a:r>
            <a:endParaRPr kumimoji="1" lang="ko-Kore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D502F8-D8AC-9958-31C1-5C6676B10B24}"/>
              </a:ext>
            </a:extLst>
          </p:cNvPr>
          <p:cNvSpPr txBox="1"/>
          <p:nvPr/>
        </p:nvSpPr>
        <p:spPr>
          <a:xfrm>
            <a:off x="9539735" y="3324346"/>
            <a:ext cx="1712328" cy="789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ko-Kore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- </a:t>
            </a:r>
            <a:r>
              <a:rPr kumimoji="1"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논문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1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편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=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행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(row) 1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행 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- 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없는 항목 → </a:t>
            </a:r>
            <a:r>
              <a:rPr kumimoji="1" lang="en-US" altLang="ko-KR" sz="12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NaN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허용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30000"/>
              </a:lnSpc>
            </a:pPr>
            <a:endParaRPr kumimoji="1" lang="ko-Kore-KR" altLang="en-US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FA2BD3F-AEE4-BA13-3BE6-1F89CD9D2018}"/>
              </a:ext>
            </a:extLst>
          </p:cNvPr>
          <p:cNvGrpSpPr/>
          <p:nvPr/>
        </p:nvGrpSpPr>
        <p:grpSpPr>
          <a:xfrm>
            <a:off x="775131" y="4760213"/>
            <a:ext cx="3816888" cy="369332"/>
            <a:chOff x="775131" y="1204556"/>
            <a:chExt cx="3816888" cy="36933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94C6E61-2213-BD6C-D699-8B2600249069}"/>
                </a:ext>
              </a:extLst>
            </p:cNvPr>
            <p:cNvSpPr txBox="1"/>
            <p:nvPr/>
          </p:nvSpPr>
          <p:spPr>
            <a:xfrm>
              <a:off x="840446" y="1204556"/>
              <a:ext cx="37515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파이프라인 자동화 </a:t>
              </a:r>
              <a:endParaRPr kumimoji="1" lang="ko-Kore-KR" alt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  <p:cxnSp>
          <p:nvCxnSpPr>
            <p:cNvPr id="35" name="직선 연결선[R] 34">
              <a:extLst>
                <a:ext uri="{FF2B5EF4-FFF2-40B4-BE49-F238E27FC236}">
                  <a16:creationId xmlns:a16="http://schemas.microsoft.com/office/drawing/2014/main" id="{23E28620-97F4-8E97-16C7-E80C6B417135}"/>
                </a:ext>
              </a:extLst>
            </p:cNvPr>
            <p:cNvCxnSpPr/>
            <p:nvPr/>
          </p:nvCxnSpPr>
          <p:spPr>
            <a:xfrm>
              <a:off x="775131" y="1241111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37107AD-0E31-0BBA-0538-8CDA89BD3E9A}"/>
              </a:ext>
            </a:extLst>
          </p:cNvPr>
          <p:cNvSpPr txBox="1"/>
          <p:nvPr/>
        </p:nvSpPr>
        <p:spPr>
          <a:xfrm>
            <a:off x="792834" y="5245350"/>
            <a:ext cx="8462580" cy="702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6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▪︎ </a:t>
            </a:r>
            <a:r>
              <a:rPr kumimoji="1" lang="en-US" altLang="ko-KR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Python</a:t>
            </a:r>
            <a:r>
              <a:rPr kumimoji="1" lang="ko-KR" altLang="en-US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스크립트로 파이프라인 자동화</a:t>
            </a:r>
            <a:endParaRPr kumimoji="1" lang="en-US" altLang="ko-KR" sz="15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ko-KR" altLang="en-US" sz="16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▪︎ </a:t>
            </a:r>
            <a:r>
              <a:rPr kumimoji="1" lang="en-US" altLang="ko-KR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API </a:t>
            </a:r>
            <a:r>
              <a:rPr kumimoji="1" lang="ko-KR" altLang="en-US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비용 절감을 위해 </a:t>
            </a:r>
            <a:r>
              <a:rPr kumimoji="1" lang="en-US" altLang="ko-KR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Raw</a:t>
            </a:r>
            <a:r>
              <a:rPr kumimoji="1" lang="ko-KR" altLang="en-US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JSON</a:t>
            </a:r>
            <a:r>
              <a:rPr kumimoji="1" lang="ko-KR" altLang="en-US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중간 저장하여</a:t>
            </a:r>
            <a:r>
              <a:rPr kumimoji="1" lang="en-US" altLang="ko-KR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로직 수정 시 </a:t>
            </a:r>
            <a:r>
              <a:rPr kumimoji="1" lang="en-US" altLang="ko-KR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PDF</a:t>
            </a:r>
            <a:r>
              <a:rPr kumimoji="1" lang="ko-KR" altLang="en-US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재호출 없이 데이터만 재처리  </a:t>
            </a:r>
            <a:endParaRPr kumimoji="1" lang="en-US" altLang="ko-KR" sz="15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0557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9578AC-9CBF-0E37-C066-A17D3C94D30E}"/>
              </a:ext>
            </a:extLst>
          </p:cNvPr>
          <p:cNvSpPr txBox="1"/>
          <p:nvPr/>
        </p:nvSpPr>
        <p:spPr>
          <a:xfrm>
            <a:off x="1" y="17401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Multimodal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kumimoji="1" lang="en-US" altLang="ko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ext-Generation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Alloy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endParaRPr kumimoji="1" lang="ko-Kore-KR" altLang="en-US" sz="2800" b="1" dirty="0">
              <a:solidFill>
                <a:srgbClr val="001D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79B5C0B-F37C-4794-C216-16A89A228540}"/>
              </a:ext>
            </a:extLst>
          </p:cNvPr>
          <p:cNvGrpSpPr/>
          <p:nvPr/>
        </p:nvGrpSpPr>
        <p:grpSpPr>
          <a:xfrm>
            <a:off x="775131" y="1039184"/>
            <a:ext cx="3816888" cy="369332"/>
            <a:chOff x="775131" y="1204556"/>
            <a:chExt cx="3816888" cy="3693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F8E1F7D-32DD-BE61-74F8-2ACD122649EA}"/>
                </a:ext>
              </a:extLst>
            </p:cNvPr>
            <p:cNvSpPr txBox="1"/>
            <p:nvPr/>
          </p:nvSpPr>
          <p:spPr>
            <a:xfrm>
              <a:off x="840446" y="1204556"/>
              <a:ext cx="37515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최종 결과물 예상도  </a:t>
              </a:r>
              <a:endParaRPr kumimoji="1" lang="ko-Kore-KR" alt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  <p:cxnSp>
          <p:nvCxnSpPr>
            <p:cNvPr id="5" name="직선 연결선[R] 4">
              <a:extLst>
                <a:ext uri="{FF2B5EF4-FFF2-40B4-BE49-F238E27FC236}">
                  <a16:creationId xmlns:a16="http://schemas.microsoft.com/office/drawing/2014/main" id="{75058629-F0AE-6B2F-025C-A6B7D38D0F91}"/>
                </a:ext>
              </a:extLst>
            </p:cNvPr>
            <p:cNvCxnSpPr/>
            <p:nvPr/>
          </p:nvCxnSpPr>
          <p:spPr>
            <a:xfrm>
              <a:off x="775131" y="1241111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36FD53A-1B46-371F-99DD-792ABCAA65DD}"/>
              </a:ext>
            </a:extLst>
          </p:cNvPr>
          <p:cNvSpPr txBox="1"/>
          <p:nvPr/>
        </p:nvSpPr>
        <p:spPr>
          <a:xfrm>
            <a:off x="775131" y="1654856"/>
            <a:ext cx="335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u="sng" dirty="0" err="1">
                <a:latin typeface="Arial" panose="020B0604020202020204" pitchFamily="34" charset="0"/>
                <a:cs typeface="Arial" panose="020B0604020202020204" pitchFamily="34" charset="0"/>
              </a:rPr>
              <a:t>hea</a:t>
            </a:r>
            <a:r>
              <a:rPr kumimoji="1" lang="en-US" altLang="ko-KR" sz="1400" u="sng" dirty="0">
                <a:latin typeface="Arial" panose="020B0604020202020204" pitchFamily="34" charset="0"/>
                <a:cs typeface="Arial" panose="020B0604020202020204" pitchFamily="34" charset="0"/>
              </a:rPr>
              <a:t>-design-</a:t>
            </a:r>
            <a:r>
              <a:rPr kumimoji="1" lang="en-US" altLang="ko-KR" sz="1400" u="sng" dirty="0" err="1">
                <a:latin typeface="Arial" panose="020B0604020202020204" pitchFamily="34" charset="0"/>
                <a:cs typeface="Arial" panose="020B0604020202020204" pitchFamily="34" charset="0"/>
              </a:rPr>
              <a:t>platform.html</a:t>
            </a:r>
            <a:endParaRPr kumimoji="1" lang="ko-Kore-KR" altLang="en-US" sz="14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CC95C6-5740-185F-0823-AAB32CDE3CDC}"/>
              </a:ext>
            </a:extLst>
          </p:cNvPr>
          <p:cNvSpPr txBox="1"/>
          <p:nvPr/>
        </p:nvSpPr>
        <p:spPr>
          <a:xfrm>
            <a:off x="775131" y="2130993"/>
            <a:ext cx="9646932" cy="946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600" b="1" dirty="0">
                <a:solidFill>
                  <a:srgbClr val="00206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예시 질문 입력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-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우주항공 엔진 부품에 적용할 내화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고엔트로피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합금을 설계하려고 해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. </a:t>
            </a:r>
            <a:r>
              <a:rPr kumimoji="1" lang="en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W, Mo, Ta, Nb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계열을 베이스로 하되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 </a:t>
            </a:r>
          </a:p>
          <a:p>
            <a:pPr>
              <a:lnSpc>
                <a:spcPct val="13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전체 밀도를 조금 낮추기 위해 </a:t>
            </a:r>
            <a:r>
              <a:rPr kumimoji="1" lang="en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나 </a:t>
            </a:r>
            <a:r>
              <a:rPr kumimoji="1" lang="en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Ti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를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첨가하고 싶어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. 1200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도 이상의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고온에서도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단상 </a:t>
            </a:r>
            <a:r>
              <a:rPr kumimoji="1" lang="en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BCC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를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유지하면서 항복강도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(</a:t>
            </a:r>
            <a:r>
              <a:rPr kumimoji="1" lang="en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YS)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를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극대화할 수 있는 조성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3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가지를 추천해 주고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고융점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금속 특유의 상온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취성을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줄이기 위한 열처리 조건도 함께 알려줘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.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0" name="삼각형 9">
            <a:extLst>
              <a:ext uri="{FF2B5EF4-FFF2-40B4-BE49-F238E27FC236}">
                <a16:creationId xmlns:a16="http://schemas.microsoft.com/office/drawing/2014/main" id="{4FC49BB9-4644-7D6B-F70A-48275BA4C1B6}"/>
              </a:ext>
            </a:extLst>
          </p:cNvPr>
          <p:cNvSpPr/>
          <p:nvPr/>
        </p:nvSpPr>
        <p:spPr>
          <a:xfrm flipV="1">
            <a:off x="3105198" y="3355109"/>
            <a:ext cx="5981604" cy="702658"/>
          </a:xfrm>
          <a:prstGeom prst="triangle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  <a:alpha val="15000"/>
                </a:schemeClr>
              </a:gs>
              <a:gs pos="50000">
                <a:schemeClr val="bg1">
                  <a:lumMod val="85000"/>
                  <a:shade val="67500"/>
                  <a:satMod val="115000"/>
                  <a:alpha val="14712"/>
                </a:schemeClr>
              </a:gs>
              <a:gs pos="100000">
                <a:schemeClr val="bg1"/>
              </a:gs>
              <a:gs pos="91000">
                <a:schemeClr val="bg1">
                  <a:lumMod val="95000"/>
                  <a:alpha val="4000"/>
                </a:schemeClr>
              </a:gs>
              <a:gs pos="69000">
                <a:schemeClr val="bg1">
                  <a:lumMod val="85000"/>
                  <a:shade val="100000"/>
                  <a:satMod val="115000"/>
                  <a:alpha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A86AC2A-0555-4BF1-A017-E314B8A7FF4C}"/>
              </a:ext>
            </a:extLst>
          </p:cNvPr>
          <p:cNvGrpSpPr/>
          <p:nvPr/>
        </p:nvGrpSpPr>
        <p:grpSpPr>
          <a:xfrm>
            <a:off x="924158" y="4388264"/>
            <a:ext cx="3313980" cy="1288601"/>
            <a:chOff x="990418" y="4424129"/>
            <a:chExt cx="2922226" cy="128860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D2BC80-DB9B-10C6-DAE0-BF7D543B3F1C}"/>
                </a:ext>
              </a:extLst>
            </p:cNvPr>
            <p:cNvSpPr txBox="1"/>
            <p:nvPr/>
          </p:nvSpPr>
          <p:spPr>
            <a:xfrm>
              <a:off x="990418" y="4424129"/>
              <a:ext cx="2088284" cy="418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ko-KR" altLang="en-US" b="1" dirty="0">
                  <a:solidFill>
                    <a:srgbClr val="002060"/>
                  </a:solidFill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조성 추천 탭</a:t>
              </a:r>
              <a:endParaRPr kumimoji="1" lang="en-US" altLang="ko-KR" b="1" dirty="0">
                <a:solidFill>
                  <a:srgbClr val="00206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134A6D0-F584-065F-3056-73741DEEB203}"/>
                </a:ext>
              </a:extLst>
            </p:cNvPr>
            <p:cNvSpPr txBox="1"/>
            <p:nvPr/>
          </p:nvSpPr>
          <p:spPr>
            <a:xfrm>
              <a:off x="990418" y="4806648"/>
              <a:ext cx="2922226" cy="906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▪︎ </a:t>
              </a:r>
              <a:r>
                <a:rPr kumimoji="1" lang="en-US" altLang="ko-KR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AI</a:t>
              </a: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 추천 </a:t>
              </a:r>
              <a:r>
                <a:rPr kumimoji="1" lang="en-US" altLang="ko-KR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3</a:t>
              </a: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가지 후보 합금 제시 </a:t>
              </a:r>
              <a:endPara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  <a:p>
              <a:pPr>
                <a:lnSpc>
                  <a:spcPct val="130000"/>
                </a:lnSpc>
              </a:pP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▪︎ 원소별 비율</a:t>
              </a:r>
              <a:r>
                <a:rPr kumimoji="1" lang="en-US" altLang="ko-KR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,</a:t>
              </a: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 예측 항복 강도 및 </a:t>
              </a:r>
              <a:r>
                <a:rPr kumimoji="1" lang="ko-KR" altLang="en-US" sz="1400" dirty="0" err="1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연신율</a:t>
              </a:r>
              <a:r>
                <a:rPr kumimoji="1" lang="en-US" altLang="ko-KR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,</a:t>
              </a: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 </a:t>
              </a:r>
              <a:endPara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  <a:p>
              <a:pPr>
                <a:lnSpc>
                  <a:spcPct val="130000"/>
                </a:lnSpc>
              </a:pP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  예측 </a:t>
              </a:r>
              <a:r>
                <a:rPr kumimoji="1" lang="en-US" altLang="ko-KR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BCC</a:t>
              </a: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 안정성 점수 및 밀도 표시  </a:t>
              </a:r>
              <a:endPara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198519F-D6E6-545E-9F24-9513015FB42E}"/>
              </a:ext>
            </a:extLst>
          </p:cNvPr>
          <p:cNvGrpSpPr/>
          <p:nvPr/>
        </p:nvGrpSpPr>
        <p:grpSpPr>
          <a:xfrm>
            <a:off x="4147807" y="4388264"/>
            <a:ext cx="2922226" cy="1568678"/>
            <a:chOff x="990418" y="4424129"/>
            <a:chExt cx="2922226" cy="156867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D9C1B8-B7DB-9426-C8E1-DBB92A5BEBD3}"/>
                </a:ext>
              </a:extLst>
            </p:cNvPr>
            <p:cNvSpPr txBox="1"/>
            <p:nvPr/>
          </p:nvSpPr>
          <p:spPr>
            <a:xfrm>
              <a:off x="990418" y="4424129"/>
              <a:ext cx="2088284" cy="418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ko-KR" altLang="en-US" b="1" dirty="0">
                  <a:solidFill>
                    <a:srgbClr val="002060"/>
                  </a:solidFill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공정 설계 탭</a:t>
              </a:r>
              <a:endParaRPr kumimoji="1" lang="en-US" altLang="ko-KR" b="1" dirty="0">
                <a:solidFill>
                  <a:srgbClr val="00206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782E3D-5F75-17B0-21DF-CEF1F570355C}"/>
                </a:ext>
              </a:extLst>
            </p:cNvPr>
            <p:cNvSpPr txBox="1"/>
            <p:nvPr/>
          </p:nvSpPr>
          <p:spPr>
            <a:xfrm>
              <a:off x="990418" y="4806648"/>
              <a:ext cx="2922226" cy="1186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▪︎ 주조 조건</a:t>
              </a:r>
              <a:r>
                <a:rPr kumimoji="1" lang="en-US" altLang="ko-KR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,</a:t>
              </a: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 균질화 열처리</a:t>
              </a:r>
              <a:r>
                <a:rPr kumimoji="1" lang="en-US" altLang="ko-KR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,</a:t>
              </a: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 </a:t>
              </a:r>
              <a:r>
                <a:rPr kumimoji="1" lang="ko-KR" altLang="en-US" sz="1400" dirty="0" err="1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어닐링</a:t>
              </a:r>
              <a:r>
                <a:rPr kumimoji="1" lang="en-US" altLang="ko-KR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,</a:t>
              </a: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 </a:t>
              </a:r>
              <a:endPara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  <a:p>
              <a:pPr>
                <a:lnSpc>
                  <a:spcPct val="130000"/>
                </a:lnSpc>
              </a:pP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   최종 열처리 타임라인 시각화 </a:t>
              </a:r>
              <a:endPara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  <a:p>
              <a:pPr>
                <a:lnSpc>
                  <a:spcPct val="130000"/>
                </a:lnSpc>
              </a:pP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▪︎ 각 단계 온도</a:t>
              </a:r>
              <a:r>
                <a:rPr kumimoji="1" lang="en-US" altLang="ko-KR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,</a:t>
              </a: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 유지</a:t>
              </a:r>
              <a:r>
                <a:rPr kumimoji="1" lang="en-US" altLang="ko-KR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,</a:t>
              </a: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 시간 등 </a:t>
              </a:r>
              <a:endPara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  <a:p>
              <a:pPr>
                <a:lnSpc>
                  <a:spcPct val="130000"/>
                </a:lnSpc>
              </a:pP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   공정 파라미터 명시 </a:t>
              </a:r>
              <a:endPara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AC14453-4A60-2EAA-963A-AF0F6D17E620}"/>
              </a:ext>
            </a:extLst>
          </p:cNvPr>
          <p:cNvGrpSpPr/>
          <p:nvPr/>
        </p:nvGrpSpPr>
        <p:grpSpPr>
          <a:xfrm>
            <a:off x="6924261" y="4388264"/>
            <a:ext cx="2922226" cy="1288601"/>
            <a:chOff x="990418" y="4424129"/>
            <a:chExt cx="2922226" cy="128860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7EA56E1-2755-12C8-A698-46D1EFC4B6C0}"/>
                </a:ext>
              </a:extLst>
            </p:cNvPr>
            <p:cNvSpPr txBox="1"/>
            <p:nvPr/>
          </p:nvSpPr>
          <p:spPr>
            <a:xfrm>
              <a:off x="990418" y="4424129"/>
              <a:ext cx="2088284" cy="418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ko-KR" altLang="en-US" b="1" dirty="0">
                  <a:solidFill>
                    <a:srgbClr val="002060"/>
                  </a:solidFill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상 분석 탭</a:t>
              </a:r>
              <a:endParaRPr kumimoji="1" lang="en-US" altLang="ko-KR" b="1" dirty="0">
                <a:solidFill>
                  <a:srgbClr val="00206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C9C93DF-A456-F601-2A9D-108E72EC3B0C}"/>
                </a:ext>
              </a:extLst>
            </p:cNvPr>
            <p:cNvSpPr txBox="1"/>
            <p:nvPr/>
          </p:nvSpPr>
          <p:spPr>
            <a:xfrm>
              <a:off x="990418" y="4806648"/>
              <a:ext cx="2922226" cy="906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▪︎ 예상 </a:t>
              </a:r>
              <a:r>
                <a:rPr kumimoji="1" lang="en-US" altLang="ko-KR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BCC </a:t>
              </a: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단상 차트 제시 </a:t>
              </a:r>
              <a:endPara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  <a:p>
              <a:pPr>
                <a:lnSpc>
                  <a:spcPct val="130000"/>
                </a:lnSpc>
              </a:pP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▪︎ </a:t>
              </a:r>
              <a:r>
                <a:rPr kumimoji="1" lang="en-US" altLang="ko-KR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BCC </a:t>
              </a: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안정화 온도 및 </a:t>
              </a:r>
              <a:endPara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  <a:p>
              <a:pPr>
                <a:lnSpc>
                  <a:spcPct val="130000"/>
                </a:lnSpc>
              </a:pP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   위험 정보 제공</a:t>
              </a:r>
              <a:endPara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CC1E8B0-743F-4F39-368F-CE7175020987}"/>
              </a:ext>
            </a:extLst>
          </p:cNvPr>
          <p:cNvGrpSpPr/>
          <p:nvPr/>
        </p:nvGrpSpPr>
        <p:grpSpPr>
          <a:xfrm>
            <a:off x="9296399" y="4388264"/>
            <a:ext cx="2922226" cy="1008524"/>
            <a:chOff x="990418" y="4424129"/>
            <a:chExt cx="2922226" cy="100852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8C61937-8DD8-A254-71E4-14AADAF3194C}"/>
                </a:ext>
              </a:extLst>
            </p:cNvPr>
            <p:cNvSpPr txBox="1"/>
            <p:nvPr/>
          </p:nvSpPr>
          <p:spPr>
            <a:xfrm>
              <a:off x="990418" y="4424129"/>
              <a:ext cx="2088284" cy="418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ko-KR" altLang="en-US" b="1" dirty="0">
                  <a:solidFill>
                    <a:srgbClr val="002060"/>
                  </a:solidFill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문헌 근거 탭</a:t>
              </a:r>
              <a:endParaRPr kumimoji="1" lang="en-US" altLang="ko-KR" b="1" dirty="0">
                <a:solidFill>
                  <a:srgbClr val="00206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30B8579-18B4-3FDD-AF20-64FF74C135E2}"/>
                </a:ext>
              </a:extLst>
            </p:cNvPr>
            <p:cNvSpPr txBox="1"/>
            <p:nvPr/>
          </p:nvSpPr>
          <p:spPr>
            <a:xfrm>
              <a:off x="990418" y="4806648"/>
              <a:ext cx="2922226" cy="626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▪︎ 과학적 근거가 되는 </a:t>
              </a:r>
              <a:endPara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  <a:p>
              <a:pPr>
                <a:lnSpc>
                  <a:spcPct val="130000"/>
                </a:lnSpc>
              </a:pPr>
              <a:r>
                <a:rPr kumimoji="1" lang="ko-KR" altLang="en-US" sz="14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   참고 논문을 함께 제시 </a:t>
              </a:r>
              <a:endPara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6255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BA3A47-98ED-E5DC-64A7-17D29ACCB208}"/>
              </a:ext>
            </a:extLst>
          </p:cNvPr>
          <p:cNvSpPr txBox="1"/>
          <p:nvPr/>
        </p:nvSpPr>
        <p:spPr>
          <a:xfrm>
            <a:off x="1" y="17401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Multimodal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kumimoji="1" lang="en-US" altLang="ko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ext-Generation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Alloy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endParaRPr kumimoji="1" lang="ko-Kore-KR" altLang="en-US" sz="2800" b="1" dirty="0">
              <a:solidFill>
                <a:srgbClr val="001D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29A68E4-0DCE-4662-B0CD-022C429EAC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73" t="676" r="8440" b="2333"/>
          <a:stretch>
            <a:fillRect/>
          </a:stretch>
        </p:blipFill>
        <p:spPr>
          <a:xfrm>
            <a:off x="8477705" y="804673"/>
            <a:ext cx="3020161" cy="58967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D6ACD2-7DEE-B8B8-B9F4-0016CE683971}"/>
              </a:ext>
            </a:extLst>
          </p:cNvPr>
          <p:cNvSpPr txBox="1"/>
          <p:nvPr/>
        </p:nvSpPr>
        <p:spPr>
          <a:xfrm>
            <a:off x="840446" y="1771346"/>
            <a:ext cx="7813224" cy="4025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▪︎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3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월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–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Related Works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분석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및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KPI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설계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▪︎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4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월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–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코퍼스 구축 및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멀티모달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추출 파이프라인 정비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6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▫︎ </a:t>
            </a:r>
            <a:r>
              <a:rPr kumimoji="1" lang="en-US" altLang="ko-KR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claude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Sonnet 4.6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/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GPT-4.1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API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연동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▪︎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5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월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–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AI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예측 모델 개발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RAG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구현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후보 선정 및 합금 제조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▫︎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부스팅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계열 모델 기반 예측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/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유전 알고리즘 조성 탐색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/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LangChain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RAG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구현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6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▫︎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Arc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장비를 통한 고순도 합금 주조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▪︎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6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월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–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후보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조성별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실험 수행 및 데이터셋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/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모델 업데이트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(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격주 단위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▫︎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SEM/EBSD/XRD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실험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(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검증 지표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: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Hardness,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Tensile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Test)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▫︎ 목표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KPI: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항복 강도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1,050 - 1,100 </a:t>
            </a:r>
            <a:r>
              <a:rPr kumimoji="1" lang="en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</a:t>
            </a:r>
            <a:r>
              <a:rPr kumimoji="1" lang="en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/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소성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변형률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기존 수준 대비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5-10%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추가 확보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▪︎ 후반부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–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UI/UX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기반 웹사이트 구현 및 배포 및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domain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shift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검증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▫︎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Cursor,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Claude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Cowork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기반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바이브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코딩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▫︎ 타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합금계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(FCC, HCP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등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)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대상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Zero-shot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예측 정확도 측정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-&gt;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모델 범용성 검증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145480C-ABCD-B461-170E-F4EB7142AA6B}"/>
              </a:ext>
            </a:extLst>
          </p:cNvPr>
          <p:cNvGrpSpPr/>
          <p:nvPr/>
        </p:nvGrpSpPr>
        <p:grpSpPr>
          <a:xfrm>
            <a:off x="775131" y="1204556"/>
            <a:ext cx="3816888" cy="369332"/>
            <a:chOff x="775131" y="1204556"/>
            <a:chExt cx="3816888" cy="36933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E71906-2318-7C66-B02F-721725B06609}"/>
                </a:ext>
              </a:extLst>
            </p:cNvPr>
            <p:cNvSpPr txBox="1"/>
            <p:nvPr/>
          </p:nvSpPr>
          <p:spPr>
            <a:xfrm>
              <a:off x="840446" y="1204556"/>
              <a:ext cx="37515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프로젝트 파이프라인 및 월별 계획</a:t>
              </a:r>
              <a:endParaRPr kumimoji="1" lang="ko-Kore-KR" alt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  <p:cxnSp>
          <p:nvCxnSpPr>
            <p:cNvPr id="7" name="직선 연결선[R] 6">
              <a:extLst>
                <a:ext uri="{FF2B5EF4-FFF2-40B4-BE49-F238E27FC236}">
                  <a16:creationId xmlns:a16="http://schemas.microsoft.com/office/drawing/2014/main" id="{DDB1C97C-4B53-3E19-4D79-888048707117}"/>
                </a:ext>
              </a:extLst>
            </p:cNvPr>
            <p:cNvCxnSpPr/>
            <p:nvPr/>
          </p:nvCxnSpPr>
          <p:spPr>
            <a:xfrm>
              <a:off x="775131" y="1241111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0719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560</Words>
  <Application>Microsoft Macintosh PowerPoint</Application>
  <PresentationFormat>와이드스크린</PresentationFormat>
  <Paragraphs>73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Pretendard Variable Light</vt:lpstr>
      <vt:lpstr>Pretendard Variable Medium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장윤서</dc:creator>
  <cp:lastModifiedBy>장윤서</cp:lastModifiedBy>
  <cp:revision>4</cp:revision>
  <dcterms:created xsi:type="dcterms:W3CDTF">2026-03-22T13:46:13Z</dcterms:created>
  <dcterms:modified xsi:type="dcterms:W3CDTF">2026-03-23T03:56:37Z</dcterms:modified>
</cp:coreProperties>
</file>