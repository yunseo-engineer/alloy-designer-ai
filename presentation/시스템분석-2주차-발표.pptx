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60"/>
    <p:restoredTop sz="91370"/>
  </p:normalViewPr>
  <p:slideViewPr>
    <p:cSldViewPr snapToGrid="0">
      <p:cViewPr varScale="1">
        <p:scale>
          <a:sx n="111" d="100"/>
          <a:sy n="111" d="100"/>
        </p:scale>
        <p:origin x="1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29C33-D602-CC40-A398-4B850BF03B7F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7247B-CD90-A44D-8962-0D54A908423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488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7247B-CD90-A44D-8962-0D54A9084239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69921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7247B-CD90-A44D-8962-0D54A9084239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244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5686B-1500-42F0-1151-6C99D04D2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2FC9D-1E7D-F4C6-C747-788416D77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6358A-9040-6EB7-1CC3-11A090C7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28FF3F-EAAD-6424-B7B4-2BF54B1E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148AF-A078-797D-0F5E-DE23E9D1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45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9D1E6-5D7C-5165-139E-A22A36EF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95B84-14C1-AAB2-A6F5-EA03D0BA6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0BE2BF-8F5D-6297-6B41-BEBE9DBB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0CFA-7ED5-B7E5-CFC9-2D56AD7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F22E1-74F5-E3D0-9F35-E9FE870F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8959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DF7F3-6097-B22D-C978-B3D261A1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2D1863-0506-C52E-C22D-319B3063D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AFE4E-5589-1D3A-127E-33954F593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B0C1D-DBB3-CFAF-4C74-F4C0B0AE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7FEDD-5091-7BF4-E3EB-D42EE303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72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16F2F-DBCD-022A-057C-2A79EDEA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8F5DA-A66E-7A36-8294-AD5AA9764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F7FC08-B53B-D4E7-6BA1-7BE79FB03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E17711-78C0-E15B-E94C-F62516D5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1003EF-9892-DAA7-387F-7DFA32F9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E8CFC-DA4A-7F4E-3C51-A5E94522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6446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6AA74-A959-4059-8848-0B7D7BCC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1C6302-C3A8-B891-224E-DA1B492F1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46973A-03BE-0AC0-433D-DCDA83231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6E904B-D1DB-4D86-4F42-E82E1EAB4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96F6FA-0872-2358-347A-C3DFA0FEC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75BF-CA1D-266A-F4AD-B894BD9E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A4039B-3709-B4AC-1D82-2DE65C97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94FBE-5BE3-07F7-9431-35F3AC22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7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7BEBD-F2B6-FF27-C127-A872904E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68072C-7201-A8BB-E451-EAF66625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7C8CA4-D1ED-063C-3E89-68A29C4B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DA5CB-12EB-DBBB-F884-45CDF528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71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470297-0FD2-A5A0-DC01-76936829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4DFD79-B421-63F8-C419-070F8B7F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C4E18-1EF3-3C20-B66A-C195F7BC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95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4516C-C9B0-D6A9-59DF-5C3E3BA0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7B913-FC18-780A-65A0-CB7462E76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839A4A-FF27-F09F-CCDF-5A5CCBF31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D6C79-2C23-862E-8E51-AA80DFE1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ED56D9-B1B2-3789-0F36-DE585F13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14ABE-4425-6D7F-F36B-13BED0AC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2724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622BE-FCBC-9C87-75E4-807EE66F5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243C17-3A7F-C953-08AC-78554A0B0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D69EEA-867C-FF0C-D21B-399C503EB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1F19B2-AA74-1EB9-3FF2-2193CC56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8B964B-DE02-258C-0AF9-29D6FA16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CB19D-8AF0-527C-538E-14646F82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6564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37821-F47D-CE75-B72B-ECDBD049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05D5F-55E1-D6CC-F1A1-61193524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0DF42-37D0-5C00-53D2-00C3E087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E72A3-FBC7-0E86-0143-56C902F8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B7593-A33B-33ED-5CFF-F2E38773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54770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2C16D1-39F9-F8EA-AB53-B61BE2182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0E435A-D6CA-1CDE-5B52-ABC24D9D4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04A3A8-1A52-9D34-CCDD-E8A351C6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8B9C1-30FC-DCD4-266B-0D726362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AD4612-C900-0642-7D3F-1888EC14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1982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CE7234-6F5F-3655-B69E-9FEEC9711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F7745F-914D-9B09-D3F0-57DABE60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EBA244-A6E3-6CF3-8278-1C7C9A2AA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E7BB3-9B5B-8445-9EDD-3A4A507CE3E6}" type="datetimeFigureOut">
              <a:rPr kumimoji="1" lang="ko-Kore-KR" altLang="en-US" smtClean="0"/>
              <a:t>2026. 3. 22.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F3585-50A4-EADC-E7BC-85AFFE58A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FB157E-507F-7AA7-1D0D-1F3F9DB01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68018-BC58-514F-84DF-9B8F5339A00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9347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C39159-C01F-F662-D933-6561FADD3E17}"/>
              </a:ext>
            </a:extLst>
          </p:cNvPr>
          <p:cNvSpPr txBox="1"/>
          <p:nvPr/>
        </p:nvSpPr>
        <p:spPr>
          <a:xfrm>
            <a:off x="1" y="17401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ext-Generation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Alloy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1" lang="ko-Kore-KR" altLang="en-US" sz="2800" b="1" dirty="0">
              <a:solidFill>
                <a:srgbClr val="001D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C7C5DCA-A734-00C7-8F17-E063AC88D212}"/>
              </a:ext>
            </a:extLst>
          </p:cNvPr>
          <p:cNvGrpSpPr/>
          <p:nvPr/>
        </p:nvGrpSpPr>
        <p:grpSpPr>
          <a:xfrm>
            <a:off x="775131" y="1204556"/>
            <a:ext cx="3816888" cy="369332"/>
            <a:chOff x="775131" y="1204556"/>
            <a:chExt cx="3816888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14DC0F-33BA-870C-25FB-FB5212A0A011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문제 인식 및 기존 연구의 한계 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8" name="직선 연결선[R] 7">
              <a:extLst>
                <a:ext uri="{FF2B5EF4-FFF2-40B4-BE49-F238E27FC236}">
                  <a16:creationId xmlns:a16="http://schemas.microsoft.com/office/drawing/2014/main" id="{E690D252-E0E9-8534-56A2-6BAC7529A82E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9F6B404-3F60-3E2B-737D-385002B004FA}"/>
              </a:ext>
            </a:extLst>
          </p:cNvPr>
          <p:cNvSpPr txBox="1"/>
          <p:nvPr/>
        </p:nvSpPr>
        <p:spPr>
          <a:xfrm>
            <a:off x="775131" y="1727555"/>
            <a:ext cx="6728711" cy="199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①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ore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전통적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합금 개발은 경험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휴리스틱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시행착오에 크게 의존해옴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‘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사람 감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’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으로는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속도와 범위를 못 따라간다는 공감대가 형성되었음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②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고엔트로피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합금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(HEA)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은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다원소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조합과 공정 변수까지 포함하면 탐색 공간이 급격히 커짐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최근 설계 리뷰들은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‘vast compositional space’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자체를 핵심 병목으로 지적함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문헌과 데이터는 많지만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사람이 읽고 구조화 하기엔 이미 과잉 상태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③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HEA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는 높은 강도와 연성 및 내산화성 잠재력이 커서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탐색 자동화의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ROI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큼 </a:t>
            </a:r>
            <a:endParaRPr kumimoji="1"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C215C-C2ED-4C02-8243-D22E613E5759}"/>
              </a:ext>
            </a:extLst>
          </p:cNvPr>
          <p:cNvSpPr txBox="1"/>
          <p:nvPr/>
        </p:nvSpPr>
        <p:spPr>
          <a:xfrm>
            <a:off x="7503842" y="2293704"/>
            <a:ext cx="3087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+</a:t>
            </a:r>
            <a:endParaRPr kumimoji="1" lang="ko-Kore-KR" altLang="en-US" sz="2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D2C4B-2C61-5DFD-7508-AF5B365BAED3}"/>
              </a:ext>
            </a:extLst>
          </p:cNvPr>
          <p:cNvSpPr txBox="1"/>
          <p:nvPr/>
        </p:nvSpPr>
        <p:spPr>
          <a:xfrm>
            <a:off x="8328716" y="1727555"/>
            <a:ext cx="3767647" cy="2317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기존의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CALPHAD(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계산 프로그램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⁃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목표 물성을 위한 조성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역설계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불가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⁃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라이선스 비용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천만원 이상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⁃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복잡한 계산의 긴 연산 시간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⁃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제한적인 기능 커버리지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0FDCD-1C6B-2733-7D3B-92348A564988}"/>
              </a:ext>
            </a:extLst>
          </p:cNvPr>
          <p:cNvSpPr txBox="1"/>
          <p:nvPr/>
        </p:nvSpPr>
        <p:spPr>
          <a:xfrm>
            <a:off x="720640" y="4804960"/>
            <a:ext cx="8264327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BCC single-phase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조성 설계 자동화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기존 수준 대비 더 높은 항복강도와 개선된 연성 후보 발굴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BCC HEA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실증 사례로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다른 도메인에도 확장 가능한 범용 플랫폼 구축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2" name="삼각형 11">
            <a:extLst>
              <a:ext uri="{FF2B5EF4-FFF2-40B4-BE49-F238E27FC236}">
                <a16:creationId xmlns:a16="http://schemas.microsoft.com/office/drawing/2014/main" id="{AE292B31-9DF1-160D-E064-46BA1C5E620E}"/>
              </a:ext>
            </a:extLst>
          </p:cNvPr>
          <p:cNvSpPr/>
          <p:nvPr/>
        </p:nvSpPr>
        <p:spPr>
          <a:xfrm flipV="1">
            <a:off x="3105198" y="3768168"/>
            <a:ext cx="5981604" cy="702658"/>
          </a:xfrm>
          <a:prstGeom prst="triangl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15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14712"/>
                </a:schemeClr>
              </a:gs>
              <a:gs pos="100000">
                <a:schemeClr val="bg1"/>
              </a:gs>
              <a:gs pos="91000">
                <a:schemeClr val="bg1">
                  <a:lumMod val="95000"/>
                  <a:alpha val="4000"/>
                </a:schemeClr>
              </a:gs>
              <a:gs pos="69000">
                <a:schemeClr val="bg1">
                  <a:lumMod val="85000"/>
                  <a:shade val="100000"/>
                  <a:satMod val="115000"/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D13BC-9879-E02C-0391-0C0B3068A4BB}"/>
              </a:ext>
            </a:extLst>
          </p:cNvPr>
          <p:cNvSpPr txBox="1"/>
          <p:nvPr/>
        </p:nvSpPr>
        <p:spPr>
          <a:xfrm>
            <a:off x="5620017" y="4857966"/>
            <a:ext cx="3767647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현행 대비 시간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비용 대폭 절감</a:t>
            </a:r>
            <a:endParaRPr kumimoji="1"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366AF-76E1-944D-4B8C-BA09B32A2D51}"/>
              </a:ext>
            </a:extLst>
          </p:cNvPr>
          <p:cNvSpPr txBox="1"/>
          <p:nvPr/>
        </p:nvSpPr>
        <p:spPr>
          <a:xfrm>
            <a:off x="5620017" y="5228922"/>
            <a:ext cx="3767647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시행착오를 줄이는 데이터 기반 합금 설계 </a:t>
            </a:r>
            <a:endParaRPr kumimoji="1"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FF7F8-B799-25F0-C4F3-456D0CB6330C}"/>
              </a:ext>
            </a:extLst>
          </p:cNvPr>
          <p:cNvSpPr txBox="1"/>
          <p:nvPr/>
        </p:nvSpPr>
        <p:spPr>
          <a:xfrm>
            <a:off x="5620017" y="5712422"/>
            <a:ext cx="6476346" cy="37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domain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shift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강인한 모델 설계로 재사용 가능한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Business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value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창출 </a:t>
            </a:r>
            <a:endParaRPr kumimoji="1"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5C14447-B596-763B-426E-024145AB168C}"/>
              </a:ext>
            </a:extLst>
          </p:cNvPr>
          <p:cNvGrpSpPr/>
          <p:nvPr/>
        </p:nvGrpSpPr>
        <p:grpSpPr>
          <a:xfrm>
            <a:off x="775131" y="4295065"/>
            <a:ext cx="3816888" cy="369332"/>
            <a:chOff x="775131" y="1204556"/>
            <a:chExt cx="3816888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7704BE-A082-CF27-0E8D-EB1D4B1BE938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프로젝트 목표 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19" name="직선 연결선[R] 18">
              <a:extLst>
                <a:ext uri="{FF2B5EF4-FFF2-40B4-BE49-F238E27FC236}">
                  <a16:creationId xmlns:a16="http://schemas.microsoft.com/office/drawing/2014/main" id="{F4A06949-EEDC-7730-2D74-00224ABB45D0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263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890CA-0860-3074-9923-7BB41AEB4871}"/>
              </a:ext>
            </a:extLst>
          </p:cNvPr>
          <p:cNvSpPr txBox="1"/>
          <p:nvPr/>
        </p:nvSpPr>
        <p:spPr>
          <a:xfrm>
            <a:off x="1" y="17401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ore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ext-Generation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Alloy</a:t>
            </a:r>
            <a:r>
              <a:rPr kumimoji="1" lang="ko-KR" altLang="en-US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2800" b="1" dirty="0">
                <a:solidFill>
                  <a:srgbClr val="001D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1" lang="ko-Kore-KR" altLang="en-US" sz="2800" b="1" dirty="0">
              <a:solidFill>
                <a:srgbClr val="001D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2E208B-6FF1-C6DA-A52E-00DAB745B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73" t="676" r="8440" b="2333"/>
          <a:stretch>
            <a:fillRect/>
          </a:stretch>
        </p:blipFill>
        <p:spPr>
          <a:xfrm>
            <a:off x="8477705" y="804673"/>
            <a:ext cx="3020161" cy="5896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D5DCE9-2BFA-6770-34C2-4FD459FFDBEE}"/>
              </a:ext>
            </a:extLst>
          </p:cNvPr>
          <p:cNvSpPr txBox="1"/>
          <p:nvPr/>
        </p:nvSpPr>
        <p:spPr>
          <a:xfrm>
            <a:off x="840446" y="1771346"/>
            <a:ext cx="7813224" cy="4025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Related Works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분석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및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KPI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설계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4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코퍼스 구축 및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멀티모달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추출 파이프라인 정비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▫︎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claude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Sonnet 4.6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GPT-4.1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API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연동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AI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예측 모델 개발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RAG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구현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후보 선정 및 합금 제조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부스팅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계열 모델 기반 예측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유전 알고리즘 조성 탐색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LangChain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RAG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구현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▫︎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Arc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장비를 통한 고순도 합금 주조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6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후보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조성별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실험 수행 및 데이터셋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모델 업데이트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격주 단위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SEM/EBSD/XRD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실험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검증 지표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Hardness,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Tensile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Test)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목표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KPI: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항복 강도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1,050 - 1,100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/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소성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변형률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기존 수준 대비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5-10%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추가 확보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▪︎ 후반부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–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UI/UX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기반 웹사이트 구현 및 배포 및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domain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shift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검증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Cursor,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Claude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Cowork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기반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바이브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코딩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▫︎ 타 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합금계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(FCC, HCP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등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대상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Zero-shot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예측 정확도 측정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-&gt;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모델 범용성 검증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A7BCEEB-4687-6DE4-3261-E3E4402EBAFB}"/>
              </a:ext>
            </a:extLst>
          </p:cNvPr>
          <p:cNvGrpSpPr/>
          <p:nvPr/>
        </p:nvGrpSpPr>
        <p:grpSpPr>
          <a:xfrm>
            <a:off x="775131" y="1204556"/>
            <a:ext cx="3816888" cy="369332"/>
            <a:chOff x="775131" y="1204556"/>
            <a:chExt cx="3816888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9F277F-A70F-F97F-CCA4-D53D1857CED2}"/>
                </a:ext>
              </a:extLst>
            </p:cNvPr>
            <p:cNvSpPr txBox="1"/>
            <p:nvPr/>
          </p:nvSpPr>
          <p:spPr>
            <a:xfrm>
              <a:off x="840446" y="1204556"/>
              <a:ext cx="3751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프로젝트 파이프라인 및 월별 계획</a:t>
              </a:r>
              <a:endParaRPr kumimoji="1" lang="ko-Kore-KR" alt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E74CDE61-A776-4F15-9B25-E9A5CB3C5AB5}"/>
                </a:ext>
              </a:extLst>
            </p:cNvPr>
            <p:cNvCxnSpPr/>
            <p:nvPr/>
          </p:nvCxnSpPr>
          <p:spPr>
            <a:xfrm>
              <a:off x="775131" y="1241111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3338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373</Words>
  <Application>Microsoft Macintosh PowerPoint</Application>
  <PresentationFormat>와이드스크린</PresentationFormat>
  <Paragraphs>40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Pretendard Variable Light</vt:lpstr>
      <vt:lpstr>Pretendard Variable Medium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장윤서</dc:creator>
  <cp:lastModifiedBy>장윤서</cp:lastModifiedBy>
  <cp:revision>16</cp:revision>
  <dcterms:created xsi:type="dcterms:W3CDTF">2026-03-12T15:11:13Z</dcterms:created>
  <dcterms:modified xsi:type="dcterms:W3CDTF">2026-03-22T13:56:48Z</dcterms:modified>
</cp:coreProperties>
</file>